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5bd90ce-132f-26c7-088d-e8d3e1a2cd02}">
          <p14:sldIdLst>
            <p14:sldId id="256"/>
          </p14:sldIdLst>
        </p14:section>
        <p14:section name="도입 배경" id="{d8e8f86d-dc49-5672-5172-9eceb0a94dc1}">
          <p14:sldIdLst>
            <p14:sldId id="257"/>
          </p14:sldIdLst>
        </p14:section>
        <p14:section name="핵심 내용" id="{b35408fe-fe93-dd17-4df5-4ba80cfcba97}">
          <p14:sldIdLst>
            <p14:sldId id="258"/>
            <p14:sldId id="259"/>
          </p14:sldIdLst>
        </p14:section>
        <p14:section name="제작 과정" id="{6137f6d9-c647-6c1e-14a9-51651f2b1e89}">
          <p14:sldIdLst>
            <p14:sldId id="260"/>
            <p14:sldId id="261"/>
          </p14:sldIdLst>
        </p14:section>
        <p14:section name="마무리" id="{a8f1252a-9190-5340-0893-1f6078fb2c57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신입사원이 가장 많이 하는 보안 실수 4가지를, 단 3분 만에 배우는 영상을 소개하겠습니다.
[편집 안내] 점선 원과 'KEPCO 로고' 점선 상자는 이미지 자리입니다. 사내 공식 로고·파워캣·에너지보이 이미지로 교체하세요.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유출 사고의 상당수는 거창한 해킹이 아니라 일상 속 작은 실수에서 시작됩니다. 그런데 신입사원들은 무엇이 실수인지조차 모르는 경우가 많습니다. 기존 교육은 길고 어려워서 기억에 잘 남지 않습니다.
[편집 안내] 왼쪽 카드의 '○○%'는 실제 통계와 출처로 교체하세요. 사내 설문이나 인터뷰 결과가 있다면 오른쪽 인용 문구로 활용하세요.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영상은 신입사원 에너지보이의 하루를 따라가며, 실수 장면과 파워캣의 해결법을 짝지어 보여줍니다. 지금 잠깐 하이라이트를 보시겠습니다. (30초 클립 재생)
[편집 안내] '장면 캡처' 상자에 각 장면의 영상 캡처를 넣고, 노란 '하이라이트 영상' 버튼에 영상 파일이나 링크를 연결하세요.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모두 '설마 이게 문제겠어?' 싶은 행동들입니다. 영상에서는 각 실수의 결과와 올바른 습관을 바로 이어서 보여줍니다.
[편집 안내] 화면 중앙에 'STOP!' 하는 파워캣 이미지를 작게 겹쳐 두거나, 카드 모서리에 에너지보이 표정(놀람·식은땀·하품·비명)을 넣으면 친근함이 더해집니다.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스크립트, 이미지, 음성, 편집까지 모두 생성형 AI를 활용했습니다. 특히 보안 영상인 만큼, AI 툴에 사내 정보는 일절 입력하지 않는 원칙을 지켰습니다.
[편집 안내] 툴 이름은 예시입니다. 실제로 사용한 툴로 바꾸고, 제작 기간과 인원도 실제 수치로 채우세요. 단계별 Before→After 캡처(프롬프트 → 결과물)를 추가하면 설득력이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작업 화면입니다. ChatGPT로 오프닝과 엔딩을 기획하고 Google Flow용 영상 프롬프트까지 만들었습니다. Gemini와 Google Flow, Veo로 장면 영상과 파워캣 캐릭터 이미지를 만들었고, 발표 기획안은 Claude와 함께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짧고 친근한 영상이라 신입사원이 끝까지 보고 오래 기억할 수 있습니다. AI 제작 방식 덕분에 다른 보안 주제로도 빠르게 확장할 수 있습니다.
[편집 안내] 오른쪽 아래 점선 원에는 파워캣과 에너지보이가 함께 방패를 든 이미지를 넣으세요. 2번 슬라이드의 당황한 에너지보이와 대비되어 '성장' 스토리가 완성됩니다.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 영상은 QR 코드로 언제든 다시 보실 수 있습니다.
[편집 안내] 흰 상자에 실제 영상 QR 코드를 넣으세요.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554480" cy="548640"/>
          </a:xfrm>
          <a:prstGeom prst="rect">
            <a:avLst/>
          </a:prstGeom>
          <a:ln w="12700">
            <a:solidFill>
              <a:schemeClr val="accent6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KEPCO 로고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187452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361188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31520" y="5669280"/>
            <a:ext cx="6949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43032" y="457200"/>
            <a:ext cx="1097280" cy="457200"/>
          </a:xfrm>
          <a:prstGeom prst="rect">
            <a:avLst/>
          </a:prstGeom>
          <a:ln w="12700">
            <a:solidFill>
              <a:schemeClr val="accent4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543032" y="457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KEPCO 로고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KEPCO 신입사원 보안 교육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9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731520" y="1325880"/>
            <a:ext cx="210312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325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▶  3분 E-learning</a:t>
            </a:r>
            <a:endParaRPr lang="en-US" sz="14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731520" y="187452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신입사원 보안 실수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TOP 4</a:t>
            </a:r>
            <a:endParaRPr lang="en-US" sz="48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3611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생성형 AI로 만든 3분 보안 교육 영상</a:t>
            </a:r>
            <a:endParaRPr lang="en-US" sz="22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31520" y="5669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발표자  ○○○  |  ○○부서  |  2026. ○○. ○○.</a:t>
            </a:r>
            <a:endParaRPr lang="en-US" sz="1400" dirty="0"/>
          </a:p>
        </p:txBody>
      </p:sp>
      <p:sp>
        <p:nvSpPr>
          <p:cNvPr id="7" name="hero-circle"/>
          <p:cNvSpPr/>
          <p:nvPr/>
        </p:nvSpPr>
        <p:spPr>
          <a:xfrm>
            <a:off x="8001000" y="685800"/>
            <a:ext cx="3566160" cy="35661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600200"/>
            <a:ext cx="1737360" cy="1737360"/>
          </a:xfrm>
          <a:prstGeom prst="rect">
            <a:avLst/>
          </a:prstGeom>
        </p:spPr>
      </p:pic>
      <p:sp>
        <p:nvSpPr>
          <p:cNvPr id="9" name="mascot-파워캣"/>
          <p:cNvSpPr/>
          <p:nvPr/>
        </p:nvSpPr>
        <p:spPr>
          <a:xfrm>
            <a:off x="8092440" y="4526280"/>
            <a:ext cx="1600200" cy="160020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0" name="mascot-파워캣-label"/>
          <p:cNvSpPr txBox="1"/>
          <p:nvPr/>
        </p:nvSpPr>
        <p:spPr>
          <a:xfrm>
            <a:off x="8092440" y="4526280"/>
            <a:ext cx="16002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파워캣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윙크 · 엄지척</a:t>
            </a:r>
            <a:endParaRPr lang="en-US" sz="1300" dirty="0"/>
          </a:p>
        </p:txBody>
      </p:sp>
      <p:sp>
        <p:nvSpPr>
          <p:cNvPr id="11" name="mascot-에너지보이"/>
          <p:cNvSpPr/>
          <p:nvPr/>
        </p:nvSpPr>
        <p:spPr>
          <a:xfrm>
            <a:off x="9921240" y="4526280"/>
            <a:ext cx="1600200" cy="160020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2" name="mascot-에너지보이-label"/>
          <p:cNvSpPr txBox="1"/>
          <p:nvPr/>
        </p:nvSpPr>
        <p:spPr>
          <a:xfrm>
            <a:off x="9921240" y="4526280"/>
            <a:ext cx="160020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에너지보이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"3분?!" 놀람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왜 지금, 신입사원 보안인가?</a:t>
            </a:r>
            <a:endParaRPr lang="en-US" sz="3600" dirty="0"/>
          </a:p>
        </p:txBody>
      </p:sp>
      <p:sp>
        <p:nvSpPr>
          <p:cNvPr id="3" name="stat-card"/>
          <p:cNvSpPr/>
          <p:nvPr/>
        </p:nvSpPr>
        <p:spPr>
          <a:xfrm>
            <a:off x="548640" y="1417320"/>
            <a:ext cx="4114800" cy="452628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개인정보 유출, 어디서 시작될까?</a:t>
            </a:r>
            <a:endParaRPr lang="en-US" sz="1500" dirty="0"/>
          </a:p>
        </p:txBody>
      </p:sp>
      <p:sp>
        <p:nvSpPr>
          <p:cNvPr id="5" name="stat-number"/>
          <p:cNvSpPr txBox="1"/>
          <p:nvPr/>
        </p:nvSpPr>
        <p:spPr>
          <a:xfrm>
            <a:off x="868680" y="233172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accent2"/>
                </a:solidFill>
              </a:rPr>
              <a:t>○○%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유출 사고 중 '내부 실수'의 비중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892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※ 실제 통계와 출처로 교체 (예: 개인정보보호위원회 발표 자료)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166360" y="16002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0330" y="181417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63640" y="15819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유출은 '사람의 실수'에서 시작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해킹보다 일상 속 작은 습관이 더 위험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166360" y="2971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30" y="318577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263640" y="2953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"뭐가 위반인지 몰랐어요"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263640" y="3429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신입사원들이 가장 많이 털어놓는 고충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166360" y="43434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30" y="455737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43251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길고 어려운 보안 교육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4800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끝까지 보기 힘들고, 기억에 남지 않음</a:t>
            </a:r>
            <a:endParaRPr lang="en-US" sz="1400" dirty="0"/>
          </a:p>
        </p:txBody>
      </p:sp>
      <p:sp>
        <p:nvSpPr>
          <p:cNvPr id="20" name="mascot-에너지보이"/>
          <p:cNvSpPr/>
          <p:nvPr/>
        </p:nvSpPr>
        <p:spPr>
          <a:xfrm>
            <a:off x="10287000" y="4434840"/>
            <a:ext cx="1371600" cy="137160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1" name="mascot-에너지보이-label"/>
          <p:cNvSpPr txBox="1"/>
          <p:nvPr/>
        </p:nvSpPr>
        <p:spPr>
          <a:xfrm>
            <a:off x="10287000" y="443484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에너지보이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당황 · 물음표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3분 영상, 이렇게 구성했습니다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신입 '에너지보이'의 하루 × 실수 4장면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장면마다  ❌ 실수  →  ✅ 파워캣의 해결법</a:t>
            </a:r>
            <a:endParaRPr lang="en-US" sz="1600" dirty="0"/>
          </a:p>
        </p:txBody>
      </p:sp>
      <p:sp>
        <p:nvSpPr>
          <p:cNvPr id="4" name="play-button"/>
          <p:cNvSpPr/>
          <p:nvPr/>
        </p:nvSpPr>
        <p:spPr>
          <a:xfrm>
            <a:off x="9079992" y="1325880"/>
            <a:ext cx="256032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14264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82912" y="1325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하이라이트 영상 30초</a:t>
            </a:r>
            <a:endParaRPr lang="en-US" sz="1400" dirty="0"/>
          </a:p>
        </p:txBody>
      </p:sp>
      <p:sp>
        <p:nvSpPr>
          <p:cNvPr id="7" name="timeline"/>
          <p:cNvSpPr/>
          <p:nvPr/>
        </p:nvSpPr>
        <p:spPr>
          <a:xfrm>
            <a:off x="1417320" y="4297680"/>
            <a:ext cx="93726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39776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416966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9436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0:00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인트로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0292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출근 첫날</a:t>
            </a:r>
            <a:endParaRPr lang="en-US" sz="1300" dirty="0"/>
          </a:p>
        </p:txBody>
      </p:sp>
      <p:sp>
        <p:nvSpPr>
          <p:cNvPr id="13" name="thumb-1"/>
          <p:cNvSpPr/>
          <p:nvPr/>
        </p:nvSpPr>
        <p:spPr>
          <a:xfrm>
            <a:off x="2468880" y="251460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14" name="Text 10"/>
          <p:cNvSpPr txBox="1"/>
          <p:nvPr/>
        </p:nvSpPr>
        <p:spPr>
          <a:xfrm>
            <a:off x="246888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장면 캡처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035808" y="404164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03580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37744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의심 메일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237744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화이트리스트 추가</a:t>
            </a:r>
            <a:endParaRPr lang="en-US" sz="1300" dirty="0"/>
          </a:p>
        </p:txBody>
      </p:sp>
      <p:sp>
        <p:nvSpPr>
          <p:cNvPr id="19" name="thumb-2"/>
          <p:cNvSpPr/>
          <p:nvPr/>
        </p:nvSpPr>
        <p:spPr>
          <a:xfrm>
            <a:off x="4343400" y="251460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0" name="Text 16"/>
          <p:cNvSpPr txBox="1"/>
          <p:nvPr/>
        </p:nvSpPr>
        <p:spPr>
          <a:xfrm>
            <a:off x="434340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장면 캡처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910328" y="404164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91032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25196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개인정보 전송</a:t>
            </a:r>
            <a:endParaRPr lang="en-US" sz="1700" dirty="0"/>
          </a:p>
        </p:txBody>
      </p:sp>
      <p:sp>
        <p:nvSpPr>
          <p:cNvPr id="24" name="Text 20"/>
          <p:cNvSpPr txBox="1"/>
          <p:nvPr/>
        </p:nvSpPr>
        <p:spPr>
          <a:xfrm>
            <a:off x="425196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마스킹 누락</a:t>
            </a:r>
            <a:endParaRPr lang="en-US" sz="1300" dirty="0"/>
          </a:p>
        </p:txBody>
      </p:sp>
      <p:sp>
        <p:nvSpPr>
          <p:cNvPr id="25" name="thumb-3"/>
          <p:cNvSpPr/>
          <p:nvPr/>
        </p:nvSpPr>
        <p:spPr>
          <a:xfrm>
            <a:off x="6217920" y="251460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26" name="Text 22"/>
          <p:cNvSpPr txBox="1"/>
          <p:nvPr/>
        </p:nvSpPr>
        <p:spPr>
          <a:xfrm>
            <a:off x="621792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장면 캡처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784848" y="404164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78484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612648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책상 · 서랍</a:t>
            </a:r>
            <a:endParaRPr lang="en-US" sz="1700" dirty="0"/>
          </a:p>
        </p:txBody>
      </p:sp>
      <p:sp>
        <p:nvSpPr>
          <p:cNvPr id="30" name="Text 26"/>
          <p:cNvSpPr txBox="1"/>
          <p:nvPr/>
        </p:nvSpPr>
        <p:spPr>
          <a:xfrm>
            <a:off x="612648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서류 방치 · 미잠금</a:t>
            </a:r>
            <a:endParaRPr lang="en-US" sz="1300" dirty="0"/>
          </a:p>
        </p:txBody>
      </p:sp>
      <p:sp>
        <p:nvSpPr>
          <p:cNvPr id="31" name="thumb-4"/>
          <p:cNvSpPr/>
          <p:nvPr/>
        </p:nvSpPr>
        <p:spPr>
          <a:xfrm>
            <a:off x="8092440" y="251460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32" name="Text 28"/>
          <p:cNvSpPr txBox="1"/>
          <p:nvPr/>
        </p:nvSpPr>
        <p:spPr>
          <a:xfrm>
            <a:off x="8092440" y="2514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장면 캡처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659368" y="4041648"/>
            <a:ext cx="512064" cy="51206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65936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800100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악성 프로그램</a:t>
            </a:r>
            <a:endParaRPr lang="en-US" sz="1700" dirty="0"/>
          </a:p>
        </p:txBody>
      </p:sp>
      <p:sp>
        <p:nvSpPr>
          <p:cNvPr id="36" name="Text 32"/>
          <p:cNvSpPr txBox="1"/>
          <p:nvPr/>
        </p:nvSpPr>
        <p:spPr>
          <a:xfrm>
            <a:off x="800100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꾸미기.exe 실행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10469880" y="397764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4" y="4169664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996696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3:00</a:t>
            </a:r>
            <a:endParaRPr lang="en-US" sz="2000" dirty="0"/>
          </a:p>
        </p:txBody>
      </p:sp>
      <p:sp>
        <p:nvSpPr>
          <p:cNvPr id="40" name="Text 35"/>
          <p:cNvSpPr txBox="1"/>
          <p:nvPr/>
        </p:nvSpPr>
        <p:spPr>
          <a:xfrm>
            <a:off x="9875520" y="4800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마무리</a:t>
            </a:r>
            <a:endParaRPr lang="en-US" sz="1700" dirty="0"/>
          </a:p>
        </p:txBody>
      </p:sp>
      <p:sp>
        <p:nvSpPr>
          <p:cNvPr id="41" name="Text 36"/>
          <p:cNvSpPr txBox="1"/>
          <p:nvPr/>
        </p:nvSpPr>
        <p:spPr>
          <a:xfrm>
            <a:off x="987552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파워캣의 정리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이것만은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NO!</a:t>
            </a:r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 보안 실수 TOP 4</a:t>
            </a:r>
            <a:endParaRPr lang="en-US" sz="3600" dirty="0"/>
          </a:p>
        </p:txBody>
      </p:sp>
      <p:sp>
        <p:nvSpPr>
          <p:cNvPr id="3" name="card-1"/>
          <p:cNvSpPr/>
          <p:nvPr/>
        </p:nvSpPr>
        <p:spPr>
          <a:xfrm>
            <a:off x="548640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02082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" y="1618488"/>
            <a:ext cx="420624" cy="42062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1691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의심 메일 열람</a:t>
            </a:r>
            <a:endParaRPr lang="en-US" sz="2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3500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468880" y="2267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열어보고, 화이트리스트에 함부로 추가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88950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468880" y="28072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발신자 확인, 의심되면 보안담당 신고</a:t>
            </a:r>
            <a:endParaRPr lang="en-US" sz="1500" dirty="0"/>
          </a:p>
        </p:txBody>
      </p:sp>
      <p:sp>
        <p:nvSpPr>
          <p:cNvPr id="13" name="card-2"/>
          <p:cNvSpPr/>
          <p:nvPr/>
        </p:nvSpPr>
        <p:spPr>
          <a:xfrm>
            <a:off x="6245352" y="1371600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611112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020824"/>
            <a:ext cx="438912" cy="43891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446520" y="1618488"/>
            <a:ext cx="420624" cy="42062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46520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7799832" y="16916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개인정보 외부 유출</a:t>
            </a:r>
            <a:endParaRPr lang="en-US" sz="2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235000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165592" y="226771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마스킹 없이 외부로 그대로 전송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2889504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8165592" y="280720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전송 전 마스킹 · 암호화 필수</a:t>
            </a:r>
            <a:endParaRPr lang="en-US" sz="1500" dirty="0"/>
          </a:p>
        </p:txBody>
      </p:sp>
      <p:sp>
        <p:nvSpPr>
          <p:cNvPr id="23" name="card-3"/>
          <p:cNvSpPr/>
          <p:nvPr/>
        </p:nvSpPr>
        <p:spPr>
          <a:xfrm>
            <a:off x="548640" y="3822192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14400" y="4233672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144" y="4471416"/>
            <a:ext cx="438912" cy="438912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49808" y="4069080"/>
            <a:ext cx="420624" cy="42062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749808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28" name="Text 19"/>
          <p:cNvSpPr txBox="1"/>
          <p:nvPr/>
        </p:nvSpPr>
        <p:spPr>
          <a:xfrm>
            <a:off x="2103120" y="4142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보안 서류 방치</a:t>
            </a:r>
            <a:endParaRPr lang="en-US" sz="2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4800600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2468880" y="4718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책상 위에 두고, 서랍은 잠그지 않음</a:t>
            </a:r>
            <a:endParaRPr lang="en-US" sz="14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3120" y="5340096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2468880" y="5257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클린데스크, 퇴근 전 서랍 잠금</a:t>
            </a:r>
            <a:endParaRPr lang="en-US" sz="1500" dirty="0"/>
          </a:p>
        </p:txBody>
      </p:sp>
      <p:sp>
        <p:nvSpPr>
          <p:cNvPr id="33" name="card-4"/>
          <p:cNvSpPr/>
          <p:nvPr/>
        </p:nvSpPr>
        <p:spPr>
          <a:xfrm>
            <a:off x="6245352" y="3822192"/>
            <a:ext cx="5394960" cy="219456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34" name="Shape 23"/>
          <p:cNvSpPr/>
          <p:nvPr/>
        </p:nvSpPr>
        <p:spPr>
          <a:xfrm>
            <a:off x="6611112" y="4233672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856" y="4471416"/>
            <a:ext cx="438912" cy="438912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446520" y="4069080"/>
            <a:ext cx="420624" cy="420624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6446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38" name="Text 26"/>
          <p:cNvSpPr txBox="1"/>
          <p:nvPr/>
        </p:nvSpPr>
        <p:spPr>
          <a:xfrm>
            <a:off x="7799832" y="4142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악성 프로그램 반입</a:t>
            </a:r>
            <a:endParaRPr lang="en-US" sz="2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9832" y="4800600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165592" y="471830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'모니터 꾸미기.exe' 무단 설치 · 실행</a:t>
            </a:r>
            <a:endParaRPr lang="en-US" sz="14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99832" y="5340096"/>
            <a:ext cx="256032" cy="256032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8165592" y="52578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승인된 SW만 설치, 무단 반입 금지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생성형 AI로 만들었습니다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기획부터 완성까지, 4단계 AI 워크플로우</a:t>
            </a:r>
            <a:endParaRPr lang="en-US" sz="1600" dirty="0"/>
          </a:p>
        </p:txBody>
      </p:sp>
      <p:sp>
        <p:nvSpPr>
          <p:cNvPr id="4" name="flow-line"/>
          <p:cNvSpPr/>
          <p:nvPr/>
        </p:nvSpPr>
        <p:spPr>
          <a:xfrm>
            <a:off x="1805940" y="2514600"/>
            <a:ext cx="8531352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11580" y="19202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647" y="2229307"/>
            <a:ext cx="570586" cy="5705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스크립트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시나리오 · 대사 작성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4526280"/>
            <a:ext cx="22402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예: ChatGPT · Claude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55364" y="19202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431" y="222930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92424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392424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이미지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3392424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장면 일러스트 · 배경 생성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529584" y="4526280"/>
            <a:ext cx="22402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529584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예: Midjourney · DALL·E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99148" y="19202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215" y="2229307"/>
            <a:ext cx="570586" cy="57058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36208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236208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음성</a:t>
            </a:r>
            <a:endParaRPr lang="en-US" sz="2200" dirty="0"/>
          </a:p>
        </p:txBody>
      </p:sp>
      <p:sp>
        <p:nvSpPr>
          <p:cNvPr id="23" name="Text 18"/>
          <p:cNvSpPr txBox="1"/>
          <p:nvPr/>
        </p:nvSpPr>
        <p:spPr>
          <a:xfrm>
            <a:off x="6236208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내레이션 · 캐릭터 보이스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373368" y="4526280"/>
            <a:ext cx="22402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373368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예: 클로바더빙 · 타입캐스트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9742932" y="192024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999" y="2229307"/>
            <a:ext cx="570586" cy="57058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79992" y="3291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STEP 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9079992" y="36118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편집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9079992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자막 · 컷 편집 · BGM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9217152" y="4526280"/>
            <a:ext cx="224028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9217152" y="45262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예: Vrew · CapCut</a:t>
            </a:r>
            <a:endParaRPr lang="en-US" sz="1100" dirty="0"/>
          </a:p>
        </p:txBody>
      </p:sp>
      <p:sp>
        <p:nvSpPr>
          <p:cNvPr id="33" name="security-callout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34" name="Shape 28"/>
          <p:cNvSpPr/>
          <p:nvPr/>
        </p:nvSpPr>
        <p:spPr>
          <a:xfrm>
            <a:off x="777240" y="539496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537606"/>
            <a:ext cx="309067" cy="309067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554480" y="525780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사내 정보는 AI에 입력하지 않는다</a:t>
            </a:r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  — 제작 과정도 보안 수칙대로</a:t>
            </a:r>
            <a:endParaRPr lang="en-US" sz="1600" dirty="0"/>
          </a:p>
        </p:txBody>
      </p:sp>
      <p:sp>
        <p:nvSpPr>
          <p:cNvPr id="37" name="Text 30"/>
          <p:cNvSpPr txBox="1"/>
          <p:nvPr/>
        </p:nvSpPr>
        <p:spPr>
          <a:xfrm>
            <a:off x="8046720" y="52578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제작 기간 </a:t>
            </a:r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○일</a:t>
            </a:r>
            <a:pPr algn="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  ·  제작 인원 </a:t>
            </a:r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○명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AI와 함께 이렇게 만들었습니다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기획부터 대본, 영상까지 단계마다 AI를 활용한 실제 작업 화면</a:t>
            </a:r>
            <a:endParaRPr lang="en-US" sz="1600" dirty="0"/>
          </a:p>
        </p:txBody>
      </p:sp>
      <p:sp>
        <p:nvSpPr>
          <p:cNvPr id="4" name="shot-ChatGPT"/>
          <p:cNvSpPr/>
          <p:nvPr/>
        </p:nvSpPr>
        <p:spPr>
          <a:xfrm>
            <a:off x="548640" y="1737360"/>
            <a:ext cx="3931920" cy="443484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74520"/>
            <a:ext cx="3657600" cy="3108960"/>
          </a:xfrm>
          <a:prstGeom prst="roundRect">
            <a:avLst>
              <a:gd name="adj" fmla="val 1765"/>
            </a:avLst>
          </a:prstGeom>
          <a:solidFill>
            <a:schemeClr val="tx2"/>
          </a:solidFill>
          <a:ln/>
        </p:spPr>
      </p:sp>
      <p:pic>
        <p:nvPicPr>
          <p:cNvPr id="6" name="img-ChatGPT" descr="ChatGPT 작업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989451"/>
            <a:ext cx="3547872" cy="287909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66544" y="5093208"/>
            <a:ext cx="896112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066544" y="5093208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ChatGPT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4772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오프닝·엔딩 기획부터 Google Flow 영상 프롬프트 작성까지</a:t>
            </a:r>
            <a:endParaRPr lang="en-US" sz="1300" dirty="0"/>
          </a:p>
        </p:txBody>
      </p:sp>
      <p:sp>
        <p:nvSpPr>
          <p:cNvPr id="10" name="shot-Claude"/>
          <p:cNvSpPr/>
          <p:nvPr/>
        </p:nvSpPr>
        <p:spPr>
          <a:xfrm>
            <a:off x="4709160" y="1737360"/>
            <a:ext cx="33512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874520"/>
            <a:ext cx="3076956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pic>
        <p:nvPicPr>
          <p:cNvPr id="12" name="img-Claude" descr="Claude 작업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731" y="1929384"/>
            <a:ext cx="2478134" cy="12618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46320" y="3328416"/>
            <a:ext cx="81381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46320" y="332841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Claude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769864" y="332841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PPT 기획안 요청</a:t>
            </a:r>
            <a:endParaRPr lang="en-US" sz="1200" dirty="0"/>
          </a:p>
        </p:txBody>
      </p:sp>
      <p:sp>
        <p:nvSpPr>
          <p:cNvPr id="16" name="shot-Gemini"/>
          <p:cNvSpPr/>
          <p:nvPr/>
        </p:nvSpPr>
        <p:spPr>
          <a:xfrm>
            <a:off x="8289036" y="1737360"/>
            <a:ext cx="33512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26196" y="1874520"/>
            <a:ext cx="3076956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pic>
        <p:nvPicPr>
          <p:cNvPr id="18" name="img-Gemini" descr="Gemini 작업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678" y="1929384"/>
            <a:ext cx="2221992" cy="12618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426196" y="3328416"/>
            <a:ext cx="81381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426196" y="332841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Gemini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9349740" y="3328416"/>
            <a:ext cx="21534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보안 서류 방치 장면 영상</a:t>
            </a:r>
            <a:endParaRPr lang="en-US" sz="1200" dirty="0"/>
          </a:p>
        </p:txBody>
      </p:sp>
      <p:sp>
        <p:nvSpPr>
          <p:cNvPr id="22" name="shot-Google Flow · Veo"/>
          <p:cNvSpPr/>
          <p:nvPr/>
        </p:nvSpPr>
        <p:spPr>
          <a:xfrm>
            <a:off x="4709160" y="4069080"/>
            <a:ext cx="33512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46320" y="4206240"/>
            <a:ext cx="3076956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pic>
        <p:nvPicPr>
          <p:cNvPr id="24" name="img-Google Flow · Veo" descr="Google Flow · Veo 작업 화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653" y="4261104"/>
            <a:ext cx="2236291" cy="12618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846320" y="5660136"/>
            <a:ext cx="1719072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4846320" y="56601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Google Flow · Veo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675120" y="5660136"/>
            <a:ext cx="1248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피싱 메일 영상</a:t>
            </a:r>
            <a:endParaRPr lang="en-US" sz="1200" dirty="0"/>
          </a:p>
        </p:txBody>
      </p:sp>
      <p:sp>
        <p:nvSpPr>
          <p:cNvPr id="28" name="shot-Google Flow"/>
          <p:cNvSpPr/>
          <p:nvPr/>
        </p:nvSpPr>
        <p:spPr>
          <a:xfrm>
            <a:off x="8289036" y="4069080"/>
            <a:ext cx="3351276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426196" y="4206240"/>
            <a:ext cx="3076956" cy="13716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pic>
        <p:nvPicPr>
          <p:cNvPr id="30" name="img-Google Flow" descr="Google Flow 작업 화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4843" y="4261104"/>
            <a:ext cx="879661" cy="126187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8426196" y="5660136"/>
            <a:ext cx="1225296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426196" y="5660136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Google Flow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9761220" y="5660136"/>
            <a:ext cx="17419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파워캣 캐릭터 이미지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3657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이렇게 달라집니다</a:t>
            </a:r>
            <a:endParaRPr lang="en-US" sz="3600" dirty="0"/>
          </a:p>
        </p:txBody>
      </p:sp>
      <p:sp>
        <p:nvSpPr>
          <p:cNvPr id="3" name="effect-1"/>
          <p:cNvSpPr/>
          <p:nvPr/>
        </p:nvSpPr>
        <p:spPr>
          <a:xfrm>
            <a:off x="548640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186720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3분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끝까지 보는 교육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짧은 분량으로 이수 부담은 낮추고 몰입도는 높임</a:t>
            </a:r>
            <a:endParaRPr lang="en-US" sz="1400" dirty="0"/>
          </a:p>
        </p:txBody>
      </p:sp>
      <p:sp>
        <p:nvSpPr>
          <p:cNvPr id="9" name="effect-2"/>
          <p:cNvSpPr/>
          <p:nvPr/>
        </p:nvSpPr>
        <p:spPr>
          <a:xfrm>
            <a:off x="4352544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718304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9" y="186720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18304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캐릭터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오래 기억되는 습관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에너지보이의 실수에 공감하며 자연스럽게 학습</a:t>
            </a:r>
            <a:endParaRPr lang="en-US" sz="1400" dirty="0"/>
          </a:p>
        </p:txBody>
      </p:sp>
      <p:sp>
        <p:nvSpPr>
          <p:cNvPr id="15" name="effect-3"/>
          <p:cNvSpPr/>
          <p:nvPr/>
        </p:nvSpPr>
        <p:spPr>
          <a:xfrm>
            <a:off x="8156448" y="137160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8522208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7773" y="18672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22208" y="2560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AI 제작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8522208" y="3337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빠른 주제 확장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522208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적은 비용 · 짧은 기간으로 시리즈 제작 가능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다음 시리즈 아이디어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2926080" y="5029200"/>
            <a:ext cx="16002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2926080" y="5029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#USB 사용편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709160" y="5029200"/>
            <a:ext cx="16002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09160" y="5029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#재택근무편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492240" y="5029200"/>
            <a:ext cx="160020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492240" y="50292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#보안점검편</a:t>
            </a:r>
            <a:endParaRPr lang="en-US" sz="1300" dirty="0"/>
          </a:p>
        </p:txBody>
      </p:sp>
      <p:sp>
        <p:nvSpPr>
          <p:cNvPr id="28" name="mascot-함께"/>
          <p:cNvSpPr/>
          <p:nvPr/>
        </p:nvSpPr>
        <p:spPr>
          <a:xfrm>
            <a:off x="10268712" y="4709160"/>
            <a:ext cx="1371600" cy="1371600"/>
          </a:xfrm>
          <a:prstGeom prst="ellipse">
            <a:avLst/>
          </a:prstGeom>
          <a:solidFill>
            <a:schemeClr val="accent3"/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29" name="mascot-함께-label"/>
          <p:cNvSpPr txBox="1"/>
          <p:nvPr/>
        </p:nvSpPr>
        <p:spPr>
          <a:xfrm>
            <a:off x="10268712" y="4709160"/>
            <a:ext cx="1371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함께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방패 들고 미소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chemeClr val="bg1"/>
                </a:solidFill>
              </a:rPr>
              <a:t>Q&amp;A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보안은 습관입니다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감사합니다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669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문의  ○○부서 ○○○ (내선 ○○○○)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02952" y="548640"/>
            <a:ext cx="1554480" cy="548640"/>
          </a:xfrm>
          <a:prstGeom prst="rect">
            <a:avLst/>
          </a:prstGeom>
          <a:ln w="12700">
            <a:solidFill>
              <a:schemeClr val="accent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9902952" y="548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KEPCO 로고</a:t>
            </a:r>
            <a:endParaRPr lang="en-US" sz="1000" dirty="0"/>
          </a:p>
        </p:txBody>
      </p:sp>
      <p:sp>
        <p:nvSpPr>
          <p:cNvPr id="8" name="mascot-파워캣"/>
          <p:cNvSpPr/>
          <p:nvPr/>
        </p:nvSpPr>
        <p:spPr>
          <a:xfrm>
            <a:off x="7863840" y="2011680"/>
            <a:ext cx="1828800" cy="1828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9" name="mascot-파워캣-label"/>
          <p:cNvSpPr txBox="1"/>
          <p:nvPr/>
        </p:nvSpPr>
        <p:spPr>
          <a:xfrm>
            <a:off x="7863840" y="2011680"/>
            <a:ext cx="18288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파워캣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손 흔들며 인사</a:t>
            </a:r>
            <a:endParaRPr lang="en-US" sz="1300" dirty="0"/>
          </a:p>
        </p:txBody>
      </p:sp>
      <p:sp>
        <p:nvSpPr>
          <p:cNvPr id="10" name="mascot-에너지보이"/>
          <p:cNvSpPr/>
          <p:nvPr/>
        </p:nvSpPr>
        <p:spPr>
          <a:xfrm>
            <a:off x="9829800" y="2651760"/>
            <a:ext cx="1645920" cy="16459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11" name="mascot-에너지보이-label"/>
          <p:cNvSpPr txBox="1"/>
          <p:nvPr/>
        </p:nvSpPr>
        <p:spPr>
          <a:xfrm>
            <a:off x="9829800" y="2651760"/>
            <a:ext cx="164592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에너지보이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손 들고 질문</a:t>
            </a:r>
            <a:endParaRPr lang="en-US" sz="1300" dirty="0"/>
          </a:p>
        </p:txBody>
      </p:sp>
      <p:sp>
        <p:nvSpPr>
          <p:cNvPr id="12" name="qr"/>
          <p:cNvSpPr/>
          <p:nvPr/>
        </p:nvSpPr>
        <p:spPr>
          <a:xfrm>
            <a:off x="10360152" y="4892040"/>
            <a:ext cx="10972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60152" y="48920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영상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QR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48920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영상 다시 보기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PCO Security Blue">
  <a:themeElements>
    <a:clrScheme name="KEPCO Security Blue">
      <a:dk1>
        <a:srgbClr val="1F2633"/>
      </a:dk1>
      <a:lt1>
        <a:srgbClr val="FFFFFF"/>
      </a:lt1>
      <a:dk2>
        <a:srgbClr val="0B2A5B"/>
      </a:dk2>
      <a:lt2>
        <a:srgbClr val="EEF4FB"/>
      </a:lt2>
      <a:accent1>
        <a:srgbClr val="0054A6"/>
      </a:accent1>
      <a:accent2>
        <a:srgbClr val="FFC20E"/>
      </a:accent2>
      <a:accent3>
        <a:srgbClr val="E3EDF8"/>
      </a:accent3>
      <a:accent4>
        <a:srgbClr val="5B6B82"/>
      </a:accent4>
      <a:accent5>
        <a:srgbClr val="D2373C"/>
      </a:accent5>
      <a:accent6>
        <a:srgbClr val="9DBEE6"/>
      </a:accent6>
      <a:hlink>
        <a:srgbClr val="0054A6"/>
      </a:hlink>
      <a:folHlink>
        <a:srgbClr val="5B6B82"/>
      </a:folHlink>
    </a:clrScheme>
    <a:fontScheme name="KEPCO Security Blu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신입사원 보안 실수 TOP 4</dc:title>
  <dc:subject>생성형 AI로 만든 3분 보안 교육 영상 소개</dc:subject>
  <dc:creator>PptxGenJS</dc:creator>
  <cp:lastModifiedBy>PptxGenJS</cp:lastModifiedBy>
  <cp:revision>1</cp:revision>
  <dcterms:created xsi:type="dcterms:W3CDTF">2026-10-20T00:34:11Z</dcterms:created>
  <dcterms:modified xsi:type="dcterms:W3CDTF">2026-10-20T00:34:11Z</dcterms:modified>
</cp:coreProperties>
</file>